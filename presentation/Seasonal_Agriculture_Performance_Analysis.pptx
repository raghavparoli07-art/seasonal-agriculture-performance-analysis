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50" d="100"/>
          <a:sy n="50" d="100"/>
        </p:scale>
        <p:origin x="850"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269741" y="3655498"/>
            <a:ext cx="6914139" cy="861497"/>
          </a:xfrm>
        </p:spPr>
        <p:txBody>
          <a:bodyPr vert="horz" lIns="91440" tIns="45720" rIns="91440" bIns="45720" rtlCol="0" anchor="t">
            <a:normAutofit fontScale="85000" lnSpcReduction="20000"/>
          </a:bodyPr>
          <a:lstStyle/>
          <a:p>
            <a:r>
              <a:rPr lang="en-US" b="0" dirty="0">
                <a:solidFill>
                  <a:schemeClr val="tx1"/>
                </a:solidFill>
              </a:rPr>
              <a:t>Student Name Raghav Paroli </a:t>
            </a:r>
            <a:endParaRPr lang="en-IN" b="0" dirty="0">
              <a:solidFill>
                <a:schemeClr val="tx1"/>
              </a:solidFill>
            </a:endParaRPr>
          </a:p>
          <a:p>
            <a:r>
              <a:rPr lang="en-US" b="0" dirty="0">
                <a:solidFill>
                  <a:schemeClr val="tx1"/>
                </a:solidFill>
              </a:rPr>
              <a:t>College Name-</a:t>
            </a:r>
            <a:r>
              <a:rPr lang="en-IN" dirty="0">
                <a:solidFill>
                  <a:schemeClr val="tx1"/>
                </a:solidFill>
              </a:rPr>
              <a:t>Indraprastha Institute of Information Technology Delhi</a:t>
            </a: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36594" y="2794001"/>
            <a:ext cx="9176365" cy="743448"/>
          </a:xfrm>
        </p:spPr>
        <p:txBody>
          <a:bodyPr>
            <a:normAutofit fontScale="90000"/>
          </a:bodyPr>
          <a:lstStyle/>
          <a:p>
            <a:r>
              <a:rPr lang="en-GB" sz="3200" dirty="0"/>
              <a:t>Project Title – </a:t>
            </a:r>
            <a:r>
              <a:rPr lang="en-IN" dirty="0"/>
              <a:t>seasonal agriculture performance analysis</a:t>
            </a:r>
            <a:endParaRPr lang="en-IN" sz="3200" u="sng"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7104554" cy="369332"/>
          </a:xfrm>
          <a:prstGeom prst="rect">
            <a:avLst/>
          </a:prstGeom>
          <a:noFill/>
        </p:spPr>
        <p:txBody>
          <a:bodyPr wrap="square" rtlCol="0">
            <a:spAutoFit/>
          </a:bodyPr>
          <a:lstStyle/>
          <a:p>
            <a:r>
              <a:rPr lang="en-US" b="1" dirty="0"/>
              <a:t>AICTE STU ID : </a:t>
            </a:r>
            <a:r>
              <a:rPr lang="en-IN" b="1" dirty="0"/>
              <a:t>STU6a2ef0d8505511781461208</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000" b="0" dirty="0"/>
              <a:t>This project conducts an end-to-end data science and performance analysis of 4,000 farm records across 8 Indian states, 8 major crops, and 3 agricultural seasons (Kharif, Rabi, and Zaid). The study systematically investigates how seasonal fluctuations in environmental parameters (rainfall, temperature, humidity) affect crop yield, water-use efficiency, input costs, and net farm profitability. Utilizing Python, exploratory data analysis, and rigorous hypothesis testing (ANOVA, Chi-Square, Tukey HSD), the project identifies key profitability drivers, evaluates micro-irrigation effectiveness, and delivers evidence-based recommendations to help farmers and policymakers optimize seasonal crop allocation and resource management.</a:t>
            </a:r>
            <a:br>
              <a:rPr lang="en-GB" sz="2000" dirty="0"/>
            </a:br>
            <a:endParaRPr lang="en-IN" sz="11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85000" lnSpcReduction="10000"/>
          </a:bodyPr>
          <a:lstStyle/>
          <a:p>
            <a:r>
              <a:rPr lang="en-IN" dirty="0"/>
              <a:t>• </a:t>
            </a:r>
            <a:r>
              <a:rPr lang="en-IN" b="1" dirty="0"/>
              <a:t>Farmers &amp; Farm Managers:</a:t>
            </a:r>
            <a:r>
              <a:rPr lang="en-IN" dirty="0"/>
              <a:t> Select optimal crops for each season, reduce excessive input costs, and adopt high-efficiency irrigation methods (Drip/Sprinkler) to maximize net profit.</a:t>
            </a:r>
          </a:p>
          <a:p>
            <a:r>
              <a:rPr lang="en-IN" dirty="0"/>
              <a:t>• </a:t>
            </a:r>
            <a:r>
              <a:rPr lang="en-IN" b="1" dirty="0"/>
              <a:t>Agricultural Extension Officers &amp; Agronomists:</a:t>
            </a:r>
            <a:r>
              <a:rPr lang="en-IN" dirty="0"/>
              <a:t> Deliver timely, data-driven seasonal advisories on pest/disease outbreaks, nutrient management, and water conservation.</a:t>
            </a:r>
          </a:p>
          <a:p>
            <a:r>
              <a:rPr lang="en-IN" dirty="0"/>
              <a:t>• </a:t>
            </a:r>
            <a:r>
              <a:rPr lang="en-IN" b="1" dirty="0"/>
              <a:t>Government Policymakers &amp; Departments of Agriculture:</a:t>
            </a:r>
            <a:r>
              <a:rPr lang="en-IN" dirty="0"/>
              <a:t> Plan seasonal resource allocation, design targeted micro-irrigation subsidies, and establish climate-resilient farming schemes.</a:t>
            </a:r>
          </a:p>
          <a:p>
            <a:r>
              <a:rPr lang="en-IN" dirty="0"/>
              <a:t>• </a:t>
            </a:r>
            <a:r>
              <a:rPr lang="en-IN" b="1" dirty="0"/>
              <a:t>Agri-Fintech &amp; Crop Insurance Companies:</a:t>
            </a:r>
            <a:r>
              <a:rPr lang="en-IN" dirty="0"/>
              <a:t> Evaluate seasonal risk patterns (monsoon pest risks, rainfall variability), price crop insurance accurately, and assess farm creditworthiness.</a:t>
            </a:r>
          </a:p>
          <a:p>
            <a:r>
              <a:rPr lang="en-IN" dirty="0"/>
              <a:t>• </a:t>
            </a:r>
            <a:r>
              <a:rPr lang="en-IN" b="1" dirty="0"/>
              <a:t>Agricultural Input Suppliers:</a:t>
            </a:r>
            <a:r>
              <a:rPr lang="en-IN" dirty="0"/>
              <a:t> Forecast seasonal demand for fertilizers, pesticides, and seeds across different states and </a:t>
            </a:r>
            <a:r>
              <a:rPr lang="en-IN" dirty="0" err="1"/>
              <a:t>agro</a:t>
            </a:r>
            <a:r>
              <a:rPr lang="en-IN" dirty="0"/>
              <a:t>-climatic zones.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399" y="1183985"/>
            <a:ext cx="9027702" cy="5243448"/>
          </a:xfrm>
        </p:spPr>
        <p:txBody>
          <a:bodyPr>
            <a:noAutofit/>
          </a:bodyPr>
          <a:lstStyle/>
          <a:p>
            <a:pPr lvl="0"/>
            <a:r>
              <a:rPr lang="en-IN" sz="1800" b="1" dirty="0"/>
              <a:t>Python 3.12:</a:t>
            </a:r>
            <a:r>
              <a:rPr lang="en-IN" sz="1800" dirty="0"/>
              <a:t> Core programming language for end-to-end data pipeline, </a:t>
            </a:r>
            <a:r>
              <a:rPr lang="en-IN" sz="1800" dirty="0" err="1"/>
              <a:t>modeling</a:t>
            </a:r>
            <a:r>
              <a:rPr lang="en-IN" sz="1800" dirty="0"/>
              <a:t>, and automated analysis.</a:t>
            </a:r>
          </a:p>
          <a:p>
            <a:pPr lvl="0"/>
            <a:r>
              <a:rPr lang="en-IN" sz="1800" b="1" dirty="0"/>
              <a:t>Pandas &amp; NumPy:</a:t>
            </a:r>
            <a:r>
              <a:rPr lang="en-IN" sz="1800" dirty="0"/>
              <a:t> Data cleaning, group-wise median imputation, and numerical transformations.</a:t>
            </a:r>
          </a:p>
          <a:p>
            <a:pPr lvl="0"/>
            <a:r>
              <a:rPr lang="en-IN" sz="1800" b="1" dirty="0"/>
              <a:t>Matplotlib &amp; Seaborn:</a:t>
            </a:r>
            <a:r>
              <a:rPr lang="en-IN" sz="1800" dirty="0"/>
              <a:t> Publication-grade 300 DPI visualizations, multi-panel seasonal plots, and heatmaps.</a:t>
            </a:r>
          </a:p>
          <a:p>
            <a:pPr lvl="0"/>
            <a:r>
              <a:rPr lang="en-IN" sz="1800" b="1" dirty="0"/>
              <a:t>SciPy &amp; </a:t>
            </a:r>
            <a:r>
              <a:rPr lang="en-IN" sz="1800" b="1" dirty="0" err="1"/>
              <a:t>Statsmodels</a:t>
            </a:r>
            <a:r>
              <a:rPr lang="en-IN" sz="1800" b="1" dirty="0"/>
              <a:t>:</a:t>
            </a:r>
            <a:r>
              <a:rPr lang="en-IN" sz="1800" dirty="0"/>
              <a:t> Inferential statistics — One-Way ANOVA, Kruskal-Wallis, Chi-Square, and Tukey HSD post-hoc tests.</a:t>
            </a:r>
          </a:p>
          <a:p>
            <a:pPr lvl="0"/>
            <a:r>
              <a:rPr lang="en-IN" sz="1800" b="1" dirty="0"/>
              <a:t>Jupyter Notebook:</a:t>
            </a:r>
            <a:r>
              <a:rPr lang="en-IN" sz="1800" dirty="0"/>
              <a:t> Interactive computational environment for reproducible research and documentation.</a:t>
            </a:r>
          </a:p>
          <a:p>
            <a:pPr lvl="0"/>
            <a:r>
              <a:rPr lang="en-IN" sz="1800" b="1" dirty="0"/>
              <a:t>Git &amp; GitHub:</a:t>
            </a:r>
            <a:r>
              <a:rPr lang="en-IN" sz="1800" dirty="0"/>
              <a:t> Version control, collaborative code management, and repository hosting.</a:t>
            </a:r>
          </a:p>
          <a:p>
            <a:pPr marL="457200" lvl="1" indent="0">
              <a:lnSpc>
                <a:spcPct val="150000"/>
              </a:lnSpc>
              <a:buNone/>
            </a:pPr>
            <a:endParaRPr lang="en-IN" sz="9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5926AE5-C4D4-8EC6-D2E9-39167A4EF6CB}"/>
              </a:ext>
            </a:extLst>
          </p:cNvPr>
          <p:cNvPicPr>
            <a:picLocks noChangeAspect="1"/>
          </p:cNvPicPr>
          <p:nvPr/>
        </p:nvPicPr>
        <p:blipFill>
          <a:blip r:embed="rId3"/>
          <a:stretch>
            <a:fillRect/>
          </a:stretch>
        </p:blipFill>
        <p:spPr>
          <a:xfrm>
            <a:off x="320982" y="1086439"/>
            <a:ext cx="5829805" cy="4496190"/>
          </a:xfrm>
          <a:prstGeom prst="rect">
            <a:avLst/>
          </a:prstGeom>
        </p:spPr>
      </p:pic>
      <p:sp>
        <p:nvSpPr>
          <p:cNvPr id="6" name="TextBox 5">
            <a:extLst>
              <a:ext uri="{FF2B5EF4-FFF2-40B4-BE49-F238E27FC236}">
                <a16:creationId xmlns:a16="http://schemas.microsoft.com/office/drawing/2014/main" id="{B800C12D-8A5A-D37F-A1E1-15C463ABC3CB}"/>
              </a:ext>
            </a:extLst>
          </p:cNvPr>
          <p:cNvSpPr txBox="1"/>
          <p:nvPr/>
        </p:nvSpPr>
        <p:spPr>
          <a:xfrm>
            <a:off x="7102702" y="1638381"/>
            <a:ext cx="4129178" cy="4247317"/>
          </a:xfrm>
          <a:prstGeom prst="rect">
            <a:avLst/>
          </a:prstGeom>
          <a:noFill/>
        </p:spPr>
        <p:txBody>
          <a:bodyPr wrap="square" rtlCol="0">
            <a:spAutoFit/>
          </a:bodyPr>
          <a:lstStyle/>
          <a:p>
            <a:pPr lvl="0"/>
            <a:r>
              <a:rPr lang="en-IN" b="1" dirty="0"/>
              <a:t>Commercial Crop Superiority:</a:t>
            </a:r>
            <a:r>
              <a:rPr lang="en-IN" dirty="0"/>
              <a:t> Chilli, Sugarcane, and Groundnut maintain strong positive margins across all three seasons.</a:t>
            </a:r>
          </a:p>
          <a:p>
            <a:pPr lvl="0"/>
            <a:r>
              <a:rPr lang="en-IN" b="1" dirty="0"/>
              <a:t>Monsoon Grain Vulnerability:</a:t>
            </a:r>
            <a:r>
              <a:rPr lang="en-IN" dirty="0"/>
              <a:t> Rice and Maize show compressed profit margins during Kharif due to elevated input costs and pest management overhead.</a:t>
            </a:r>
          </a:p>
          <a:p>
            <a:pPr lvl="0"/>
            <a:r>
              <a:rPr lang="en-IN" b="1" dirty="0"/>
              <a:t>Seasonal Specialization:</a:t>
            </a:r>
            <a:r>
              <a:rPr lang="en-IN" dirty="0"/>
              <a:t> Wheat achieves optimal profitability in Rabi (+₹134k average) versus off-season plantings.</a:t>
            </a:r>
          </a:p>
          <a:p>
            <a:br>
              <a:rPr lang="en-IN" dirty="0"/>
            </a:b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8379413-757C-3C46-528C-B97D23EF6FA5}"/>
              </a:ext>
            </a:extLst>
          </p:cNvPr>
          <p:cNvPicPr>
            <a:picLocks noChangeAspect="1"/>
          </p:cNvPicPr>
          <p:nvPr/>
        </p:nvPicPr>
        <p:blipFill>
          <a:blip r:embed="rId3"/>
          <a:stretch>
            <a:fillRect/>
          </a:stretch>
        </p:blipFill>
        <p:spPr>
          <a:xfrm>
            <a:off x="962818" y="1413364"/>
            <a:ext cx="8321761" cy="3360711"/>
          </a:xfrm>
          <a:prstGeom prst="rect">
            <a:avLst/>
          </a:prstGeom>
        </p:spPr>
      </p:pic>
      <p:sp>
        <p:nvSpPr>
          <p:cNvPr id="11" name="TextBox 10">
            <a:extLst>
              <a:ext uri="{FF2B5EF4-FFF2-40B4-BE49-F238E27FC236}">
                <a16:creationId xmlns:a16="http://schemas.microsoft.com/office/drawing/2014/main" id="{73581B03-F944-4F44-8BF8-B7B14662C298}"/>
              </a:ext>
            </a:extLst>
          </p:cNvPr>
          <p:cNvSpPr txBox="1"/>
          <p:nvPr/>
        </p:nvSpPr>
        <p:spPr>
          <a:xfrm>
            <a:off x="256766" y="4912068"/>
            <a:ext cx="11678468" cy="1477328"/>
          </a:xfrm>
          <a:prstGeom prst="rect">
            <a:avLst/>
          </a:prstGeom>
          <a:noFill/>
        </p:spPr>
        <p:txBody>
          <a:bodyPr wrap="square" rtlCol="0">
            <a:spAutoFit/>
          </a:bodyPr>
          <a:lstStyle/>
          <a:p>
            <a:pPr lvl="0"/>
            <a:r>
              <a:rPr lang="en-IN" b="1"/>
              <a:t>Monsoon Pest Surge:</a:t>
            </a:r>
            <a:r>
              <a:rPr lang="en-IN"/>
              <a:t> Kharif pest/disease risk averages </a:t>
            </a:r>
            <a:r>
              <a:rPr lang="en-IN" b="1"/>
              <a:t>52.9%</a:t>
            </a:r>
            <a:r>
              <a:rPr lang="en-IN"/>
              <a:t>, compared to </a:t>
            </a:r>
            <a:r>
              <a:rPr lang="en-IN" b="1"/>
              <a:t>38.9% in Rabi</a:t>
            </a:r>
            <a:r>
              <a:rPr lang="en-IN"/>
              <a:t> and </a:t>
            </a:r>
            <a:r>
              <a:rPr lang="en-IN" b="1"/>
              <a:t>36.9% in Zaid</a:t>
            </a:r>
            <a:r>
              <a:rPr lang="en-IN"/>
              <a:t>.</a:t>
            </a:r>
          </a:p>
          <a:p>
            <a:pPr lvl="0"/>
            <a:r>
              <a:rPr lang="en-IN" b="1"/>
              <a:t>Statistical Proof:</a:t>
            </a:r>
            <a:r>
              <a:rPr lang="en-IN"/>
              <a:t> One-Way ANOVA proves this seasonal variation is highly significant ($F = 1049.47$, $p &lt; 10^{-300}$, $\eta^2 = 0.344$).</a:t>
            </a:r>
          </a:p>
          <a:p>
            <a:pPr lvl="0"/>
            <a:r>
              <a:rPr lang="en-IN" b="1"/>
              <a:t>Moisture-Infestation Link:</a:t>
            </a:r>
            <a:r>
              <a:rPr lang="en-IN"/>
              <a:t> Persistent monsoon humidity (&gt;70%) strongly accelerates fungal and insect disease vectors.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A66D92D-6397-9161-096D-B06D629BE109}"/>
              </a:ext>
            </a:extLst>
          </p:cNvPr>
          <p:cNvPicPr>
            <a:picLocks noChangeAspect="1"/>
          </p:cNvPicPr>
          <p:nvPr/>
        </p:nvPicPr>
        <p:blipFill>
          <a:blip r:embed="rId3"/>
          <a:stretch>
            <a:fillRect/>
          </a:stretch>
        </p:blipFill>
        <p:spPr>
          <a:xfrm>
            <a:off x="830228" y="1275371"/>
            <a:ext cx="8123624" cy="3238781"/>
          </a:xfrm>
          <a:prstGeom prst="rect">
            <a:avLst/>
          </a:prstGeom>
        </p:spPr>
      </p:pic>
      <p:sp>
        <p:nvSpPr>
          <p:cNvPr id="12" name="TextBox 11">
            <a:extLst>
              <a:ext uri="{FF2B5EF4-FFF2-40B4-BE49-F238E27FC236}">
                <a16:creationId xmlns:a16="http://schemas.microsoft.com/office/drawing/2014/main" id="{30D68974-92F4-EA2D-71DF-7C3855714A2D}"/>
              </a:ext>
            </a:extLst>
          </p:cNvPr>
          <p:cNvSpPr txBox="1"/>
          <p:nvPr/>
        </p:nvSpPr>
        <p:spPr>
          <a:xfrm>
            <a:off x="213360" y="4682467"/>
            <a:ext cx="12100559" cy="2031325"/>
          </a:xfrm>
          <a:prstGeom prst="rect">
            <a:avLst/>
          </a:prstGeom>
          <a:noFill/>
        </p:spPr>
        <p:txBody>
          <a:bodyPr wrap="square" rtlCol="0">
            <a:spAutoFit/>
          </a:bodyPr>
          <a:lstStyle/>
          <a:p>
            <a:pPr lvl="0"/>
            <a:r>
              <a:rPr lang="en-IN" b="1" dirty="0"/>
              <a:t>Micro-Irrigation Superiority:</a:t>
            </a:r>
            <a:r>
              <a:rPr lang="en-IN" dirty="0"/>
              <a:t> Drip irrigation delivers the highest water efficiency (</a:t>
            </a:r>
            <a:r>
              <a:rPr lang="en-IN" b="1" dirty="0"/>
              <a:t>4.82 tonnes / 1000 m³</a:t>
            </a:r>
            <a:r>
              <a:rPr lang="en-IN" dirty="0"/>
              <a:t>), outperforming flood irrigation by </a:t>
            </a:r>
            <a:r>
              <a:rPr lang="en-IN" b="1" dirty="0"/>
              <a:t>42%</a:t>
            </a:r>
            <a:r>
              <a:rPr lang="en-IN" dirty="0"/>
              <a:t>.</a:t>
            </a:r>
          </a:p>
          <a:p>
            <a:pPr lvl="0"/>
            <a:r>
              <a:rPr lang="en-IN" b="1" dirty="0"/>
              <a:t>Flood Irrigation Inefficiency:</a:t>
            </a:r>
            <a:r>
              <a:rPr lang="en-IN" dirty="0"/>
              <a:t> Consumes &gt;9,000 m³ water on average, causing higher energy/pumping costs without proportionate yield gain.</a:t>
            </a:r>
          </a:p>
          <a:p>
            <a:pPr lvl="0"/>
            <a:r>
              <a:rPr lang="en-IN" b="1" dirty="0"/>
              <a:t>Summer Optimization:</a:t>
            </a:r>
            <a:r>
              <a:rPr lang="en-IN" dirty="0"/>
              <a:t> Drip and sprinkler systems demonstrate maximum profit returns during water-scarce Zaid conditions.</a:t>
            </a:r>
          </a:p>
          <a:p>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fig12_statistical_tests_summary_table.png">
            <a:extLst>
              <a:ext uri="{FF2B5EF4-FFF2-40B4-BE49-F238E27FC236}">
                <a16:creationId xmlns:a16="http://schemas.microsoft.com/office/drawing/2014/main" id="{DC5F6E67-7AB8-2D18-CA8D-8202F40902C3}"/>
              </a:ext>
            </a:extLst>
          </p:cNvPr>
          <p:cNvPicPr>
            <a:picLocks noChangeAspect="1"/>
          </p:cNvPicPr>
          <p:nvPr/>
        </p:nvPicPr>
        <p:blipFill>
          <a:blip r:embed="rId3"/>
          <a:stretch>
            <a:fillRect/>
          </a:stretch>
        </p:blipFill>
        <p:spPr>
          <a:xfrm>
            <a:off x="731520" y="1463040"/>
            <a:ext cx="10805160" cy="485335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fig04_seasonal_profitability_ci.png">
            <a:extLst>
              <a:ext uri="{FF2B5EF4-FFF2-40B4-BE49-F238E27FC236}">
                <a16:creationId xmlns:a16="http://schemas.microsoft.com/office/drawing/2014/main" id="{5ED08169-BFAD-4A36-5567-66C078560114}"/>
              </a:ext>
            </a:extLst>
          </p:cNvPr>
          <p:cNvPicPr>
            <a:picLocks noChangeAspect="1"/>
          </p:cNvPicPr>
          <p:nvPr/>
        </p:nvPicPr>
        <p:blipFill>
          <a:blip r:embed="rId3"/>
          <a:stretch>
            <a:fillRect/>
          </a:stretch>
        </p:blipFill>
        <p:spPr>
          <a:xfrm>
            <a:off x="675957" y="1608410"/>
            <a:ext cx="11169867" cy="3490583"/>
          </a:xfrm>
          <a:prstGeom prst="rect">
            <a:avLst/>
          </a:prstGeom>
        </p:spPr>
      </p:pic>
      <p:sp>
        <p:nvSpPr>
          <p:cNvPr id="11" name="TextBox 10">
            <a:extLst>
              <a:ext uri="{FF2B5EF4-FFF2-40B4-BE49-F238E27FC236}">
                <a16:creationId xmlns:a16="http://schemas.microsoft.com/office/drawing/2014/main" id="{53EDD7A8-A24A-8D43-8580-B3323C7F3F85}"/>
              </a:ext>
            </a:extLst>
          </p:cNvPr>
          <p:cNvSpPr txBox="1"/>
          <p:nvPr/>
        </p:nvSpPr>
        <p:spPr>
          <a:xfrm>
            <a:off x="3657600" y="563330"/>
            <a:ext cx="6696064" cy="584775"/>
          </a:xfrm>
          <a:prstGeom prst="rect">
            <a:avLst/>
          </a:prstGeom>
          <a:noFill/>
        </p:spPr>
        <p:txBody>
          <a:bodyPr wrap="none" rtlCol="0">
            <a:spAutoFit/>
          </a:bodyPr>
          <a:lstStyle/>
          <a:p>
            <a:r>
              <a:rPr lang="en-IN" sz="3200" dirty="0"/>
              <a:t>Seasonal Field and Farm Portability</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3582B40-6A1F-54A8-8A1B-194D614CDDE3}"/>
              </a:ext>
            </a:extLst>
          </p:cNvPr>
          <p:cNvSpPr txBox="1"/>
          <p:nvPr/>
        </p:nvSpPr>
        <p:spPr>
          <a:xfrm>
            <a:off x="711358" y="1386773"/>
            <a:ext cx="10769283" cy="3416320"/>
          </a:xfrm>
          <a:prstGeom prst="rect">
            <a:avLst/>
          </a:prstGeom>
          <a:noFill/>
        </p:spPr>
        <p:txBody>
          <a:bodyPr wrap="square" rtlCol="0">
            <a:spAutoFit/>
          </a:bodyPr>
          <a:lstStyle/>
          <a:p>
            <a:pPr lvl="0"/>
            <a:r>
              <a:rPr lang="en-IN" b="1" dirty="0"/>
              <a:t>Multi-Year Longitudinal </a:t>
            </a:r>
            <a:r>
              <a:rPr lang="en-IN" b="1" dirty="0" err="1"/>
              <a:t>Modeling</a:t>
            </a:r>
            <a:r>
              <a:rPr lang="en-IN" b="1" dirty="0"/>
              <a:t>:</a:t>
            </a:r>
            <a:r>
              <a:rPr lang="en-IN" dirty="0"/>
              <a:t> Expand dataset across multi-decadal time series to track long-term climate variability and monsoon shift impacts.</a:t>
            </a:r>
          </a:p>
          <a:p>
            <a:pPr lvl="0"/>
            <a:endParaRPr lang="en-IN" dirty="0"/>
          </a:p>
          <a:p>
            <a:pPr lvl="0"/>
            <a:r>
              <a:rPr lang="en-IN" b="1" dirty="0"/>
              <a:t>Predictive Machine Learning:</a:t>
            </a:r>
            <a:r>
              <a:rPr lang="en-IN" dirty="0"/>
              <a:t> Deploy ensemble ML models (</a:t>
            </a:r>
            <a:r>
              <a:rPr lang="en-IN" dirty="0" err="1"/>
              <a:t>XGBoost</a:t>
            </a:r>
            <a:r>
              <a:rPr lang="en-IN" dirty="0"/>
              <a:t>, </a:t>
            </a:r>
            <a:r>
              <a:rPr lang="en-IN" dirty="0" err="1"/>
              <a:t>LightGBM</a:t>
            </a:r>
            <a:r>
              <a:rPr lang="en-IN" dirty="0"/>
              <a:t>) for pre-sowing yield and profit forecasting based on early seasonal forecasts.</a:t>
            </a:r>
          </a:p>
          <a:p>
            <a:pPr lvl="0"/>
            <a:endParaRPr lang="en-IN" dirty="0"/>
          </a:p>
          <a:p>
            <a:pPr lvl="0"/>
            <a:r>
              <a:rPr lang="en-IN" b="1" dirty="0"/>
              <a:t>Satellite Remote Sensing (NDVI):</a:t>
            </a:r>
            <a:r>
              <a:rPr lang="en-IN" dirty="0"/>
              <a:t> Integrate Sentinel-2 and Landsat multispectral imagery to monitor vegetation health, canopy </a:t>
            </a:r>
            <a:r>
              <a:rPr lang="en-IN" dirty="0" err="1"/>
              <a:t>vigor</a:t>
            </a:r>
            <a:r>
              <a:rPr lang="en-IN" dirty="0"/>
              <a:t>, and soil moisture in real time.</a:t>
            </a:r>
          </a:p>
          <a:p>
            <a:pPr lvl="0"/>
            <a:endParaRPr lang="en-IN" dirty="0"/>
          </a:p>
          <a:p>
            <a:pPr lvl="0"/>
            <a:r>
              <a:rPr lang="en-IN" b="1" dirty="0"/>
              <a:t>Hyper-Local IoT Advisory:</a:t>
            </a:r>
            <a:r>
              <a:rPr lang="en-IN" dirty="0"/>
              <a:t> Implement affordable on-field IoT sensors for automated irrigation scheduling and real-time pest alert advisories.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295118"/>
            <a:ext cx="7232875" cy="646331"/>
          </a:xfrm>
          <a:prstGeom prst="rect">
            <a:avLst/>
          </a:prstGeom>
          <a:noFill/>
        </p:spPr>
        <p:txBody>
          <a:bodyPr wrap="square">
            <a:spAutoFit/>
          </a:bodyPr>
          <a:lstStyle/>
          <a:p>
            <a:r>
              <a:rPr lang="en-US" dirty="0"/>
              <a:t>https://github.com/raghavparoli07-art/seasonal-agriculture-performance-analysis/tree/main</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16E6C60-E243-F62F-9AD9-0D39DAEDA382}"/>
              </a:ext>
            </a:extLst>
          </p:cNvPr>
          <p:cNvPicPr>
            <a:picLocks noChangeAspect="1"/>
          </p:cNvPicPr>
          <p:nvPr/>
        </p:nvPicPr>
        <p:blipFill>
          <a:blip r:embed="rId3"/>
          <a:stretch>
            <a:fillRect/>
          </a:stretch>
        </p:blipFill>
        <p:spPr>
          <a:xfrm>
            <a:off x="2077303" y="1645493"/>
            <a:ext cx="6950042" cy="492294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2744881"/>
            <a:ext cx="11340000" cy="700114"/>
          </a:xfrm>
          <a:prstGeom prst="rect">
            <a:avLst/>
          </a:prstGeom>
        </p:spPr>
        <p:txBody>
          <a:bodyPr anchor="ctr">
            <a:no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1381</TotalTime>
  <Words>802</Words>
  <Application>Microsoft Office PowerPoint</Application>
  <PresentationFormat>Widescreen</PresentationFormat>
  <Paragraphs>51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This project conducts an end-to-end data science and performance analysis of 4,000 farm records across 8 Indian states, 8 major crops, and 3 agricultural seasons (Kharif, Rabi, and Zaid). The study systematically investigates how seasonal fluctuations in environmental parameters (rainfall, temperature, humidity) affect crop yield, water-use efficiency, input costs, and net farm profitability. Utilizing Python, exploratory data analysis, and rigorous hypothesis testing (ANOVA, Chi-Square, Tukey HSD), the project identifies key profitability drivers, evaluates micro-irrigation effectiveness, and delivers evidence-based recommendations to help farmers and policymakers optimize seasonal crop allocation and resource management.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Raghav Paroli</cp:lastModifiedBy>
  <cp:revision>99</cp:revision>
  <dcterms:created xsi:type="dcterms:W3CDTF">2021-07-11T13:13:15Z</dcterms:created>
  <dcterms:modified xsi:type="dcterms:W3CDTF">2026-09-10T16:38:50Z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