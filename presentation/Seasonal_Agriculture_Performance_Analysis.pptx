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jfif" ContentType="image/jpeg"/>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notesMaster" Target="notesMasters/notesMaster1.xml"/><Relationship Id="rId20" Type="http://schemas.openxmlformats.org/officeDocument/2006/relationships/handoutMaster" Target="handoutMasters/handout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9/10/2026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9/10/2026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9/10/2026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9/10/2026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9/10/2026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image" Target="../media/image1.jf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2.png"/><Relationship Id="rId3" Type="http://schemas.openxmlformats.org/officeDocument/2006/relationships/image" Target="../media/image1.jfif"/></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image" Target="../media/image1.jfif"/><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1.jfi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223157" y="3583914"/>
            <a:ext cx="3400089" cy="861497"/>
          </a:xfrm>
        </p:spPr>
        <p:txBody>
          <a:bodyPr vert="horz" lIns="91440" tIns="45720" rIns="91440" bIns="45720" rtlCol="0" anchor="t">
            <a:normAutofit/>
          </a:bodyPr>
          <a:lstStyle/>
          <a:p>
            <a:pPr>
              <a:defRPr sz="1500">
                <a:solidFill>
                  <a:srgbClr val="475569"/>
                </a:solidFill>
              </a:defRPr>
            </a:pPr>
            <a:r>
              <a:t>Student Name: Raghav Paroli</a:t>
            </a:r>
          </a:p>
          <a:p>
            <a:pPr>
              <a:defRPr sz="1500">
                <a:solidFill>
                  <a:srgbClr val="475569"/>
                </a:solidFill>
              </a:defRPr>
            </a:pPr>
            <a:r>
              <a:t>College: Dept. of Computer Science &amp; Data Analytics</a:t>
            </a:r>
          </a:p>
          <a:p>
            <a:pPr>
              <a:defRPr sz="1500">
                <a:solidFill>
                  <a:srgbClr val="475569"/>
                </a:solidFill>
              </a:defRPr>
            </a:pPr>
            <a:r>
              <a:t>VOIS AICTE Batch 2026-2027</a:t>
            </a: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4" y="2844750"/>
            <a:ext cx="4998720" cy="743448"/>
          </a:xfrm>
        </p:spPr>
        <p:txBody>
          <a:bodyPr>
            <a:normAutofit/>
          </a:bodyPr>
          <a:lstStyle/>
          <a:p>
            <a:pPr>
              <a:defRPr b="1" sz="2800">
                <a:solidFill>
                  <a:srgbClr val="0F172A"/>
                </a:solidFill>
              </a:defRPr>
            </a:pPr>
            <a:r>
              <a:t>Project Title -</a:t>
            </a:r>
          </a:p>
          <a:p>
            <a:pPr>
              <a:defRPr b="1" sz="2800">
                <a:solidFill>
                  <a:srgbClr val="0F172A"/>
                </a:solidFill>
              </a:defRPr>
            </a:pPr>
            <a:r>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957406" y="4576469"/>
            <a:ext cx="3176362" cy="646331"/>
          </a:xfrm>
          <a:prstGeom prst="rect">
            <a:avLst/>
          </a:prstGeom>
          <a:noFill/>
        </p:spPr>
        <p:txBody>
          <a:bodyPr wrap="square" rtlCol="0">
            <a:spAutoFit/>
          </a:bodyPr>
          <a:lstStyle/>
          <a:p>
            <a:pPr>
              <a:defRPr sz="1300" b="1">
                <a:solidFill>
                  <a:srgbClr val="1E3A8A"/>
                </a:solidFill>
              </a:defRPr>
            </a:pPr>
            <a:r>
              <a:t>AICTE STU ID : (its available in your offer letter)</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pPr>
              <a:defRPr b="1">
                <a:solidFill>
                  <a:srgbClr val="0F172A"/>
                </a:solidFill>
              </a:defRPr>
            </a:pPr>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pPr>
              <a:defRPr b="1" sz="2400">
                <a:solidFill>
                  <a:srgbClr val="0F172A"/>
                </a:solidFill>
              </a:defRPr>
            </a:pPr>
            <a:r>
              <a:t>Project Description</a:t>
            </a:r>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0" name="TextBox 9"/>
          <p:cNvSpPr txBox="1"/>
          <p:nvPr/>
        </p:nvSpPr>
        <p:spPr>
          <a:xfrm>
            <a:off x="731520" y="1645920"/>
            <a:ext cx="10515600" cy="4389120"/>
          </a:xfrm>
          <a:prstGeom prst="rect">
            <a:avLst/>
          </a:prstGeom>
          <a:noFill/>
        </p:spPr>
        <p:txBody>
          <a:bodyPr wrap="square">
            <a:spAutoFit/>
          </a:bodyPr>
          <a:lstStyle/>
          <a:p>
            <a:pPr>
              <a:defRPr sz="1350">
                <a:solidFill>
                  <a:srgbClr val="475569"/>
                </a:solidFill>
              </a:defRPr>
            </a:pPr>
            <a:r>
              <a:t>This project provides an end-to-end data analytics and empirical modeling investigation into 4,000 farm-season records across 8 Indian states, 8 major crops, and 4 irrigation methods over Kharif, Rabi, and Zaid seasons.</a:t>
            </a:r>
          </a:p>
          <a:p>
            <a:pPr>
              <a:defRPr sz="1350">
                <a:solidFill>
                  <a:srgbClr val="475569"/>
                </a:solidFill>
              </a:defRPr>
            </a:pPr>
          </a:p>
          <a:p>
            <a:pPr>
              <a:defRPr sz="1350">
                <a:solidFill>
                  <a:srgbClr val="475569"/>
                </a:solidFill>
              </a:defRPr>
            </a:pPr>
            <a:r>
              <a:t>â€¢ Data Quality &amp; Robust Imputation: Hierarchical group-wise median imputation resolves sensor gaps without collapsing genuine botanical and seasonal climatic variations.</a:t>
            </a:r>
          </a:p>
          <a:p>
            <a:pPr>
              <a:defRPr sz="1350">
                <a:solidFill>
                  <a:srgbClr val="475569"/>
                </a:solidFill>
              </a:defRPr>
            </a:pPr>
            <a:r>
              <a:t>â€¢ Comprehensive Feature Engineering: Derived domain metrics (Profit Margin %, Cost/Ha, Revenue/Ha, Fertilizer Intensity, Yield Tertiles) enable standardized multi-crop comparisons.</a:t>
            </a:r>
          </a:p>
          <a:p>
            <a:pPr>
              <a:defRPr sz="1350">
                <a:solidFill>
                  <a:srgbClr val="475569"/>
                </a:solidFill>
              </a:defRPr>
            </a:pPr>
            <a:r>
              <a:t>â€¢ Exploratory &amp; Agronomic Profiling: Investigates the 'Monsoon Penalty' paradox, sugarcane yield segmentation, and water efficiency across micro-irrigation regimes.</a:t>
            </a:r>
          </a:p>
          <a:p>
            <a:pPr>
              <a:defRPr sz="1350">
                <a:solidFill>
                  <a:srgbClr val="475569"/>
                </a:solidFill>
              </a:defRPr>
            </a:pPr>
            <a:r>
              <a:t>â€¢ Statistical Verification: Employs One-Way ANOVA, Kruskal-Wallis tests, and Tukey HSD post-hoc comparisons to establish high-confidence empirical conclusions.</a:t>
            </a:r>
          </a:p>
          <a:p>
            <a:pPr>
              <a:defRPr sz="1350">
                <a:solidFill>
                  <a:srgbClr val="475569"/>
                </a:solidFill>
              </a:defRPr>
            </a:pPr>
            <a:r>
              <a:t>â€¢ Practical Roadmap: Translates statistical findings into actionable recommendations for farmers, agricultural planners, and crop insurance policymakers.</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a:bodyPr>
          <a:lstStyle/>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pPr>
              <a:defRPr b="1">
                <a:solidFill>
                  <a:srgbClr val="0F172A"/>
                </a:solidFill>
              </a:defRPr>
            </a:pPr>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
        <p:nvSpPr>
          <p:cNvPr id="17" name="TextBox 16"/>
          <p:cNvSpPr txBox="1"/>
          <p:nvPr/>
        </p:nvSpPr>
        <p:spPr>
          <a:xfrm>
            <a:off x="731520" y="1645920"/>
            <a:ext cx="10515600" cy="4389120"/>
          </a:xfrm>
          <a:prstGeom prst="rect">
            <a:avLst/>
          </a:prstGeom>
          <a:noFill/>
        </p:spPr>
        <p:txBody>
          <a:bodyPr wrap="square">
            <a:spAutoFit/>
          </a:bodyPr>
          <a:lstStyle/>
          <a:p>
            <a:pPr>
              <a:defRPr sz="1300">
                <a:solidFill>
                  <a:srgbClr val="475569"/>
                </a:solidFill>
              </a:defRPr>
            </a:pPr>
            <a:r>
              <a:t>1. Farmers &amp; Cultivators:</a:t>
            </a:r>
          </a:p>
          <a:p>
            <a:pPr>
              <a:defRPr sz="1300">
                <a:solidFill>
                  <a:srgbClr val="475569"/>
                </a:solidFill>
              </a:defRPr>
            </a:pPr>
            <a:r>
              <a:t>   Select optimal seasonal crop-mix, transition from flood to micro-irrigation, and preempt Kharif pest surges.</a:t>
            </a:r>
          </a:p>
          <a:p>
            <a:pPr>
              <a:defRPr sz="1300">
                <a:solidFill>
                  <a:srgbClr val="475569"/>
                </a:solidFill>
              </a:defRPr>
            </a:pPr>
          </a:p>
          <a:p>
            <a:pPr>
              <a:defRPr sz="1300">
                <a:solidFill>
                  <a:srgbClr val="475569"/>
                </a:solidFill>
              </a:defRPr>
            </a:pPr>
            <a:r>
              <a:t>2. Agricultural Extension Officers &amp; Agronomists:</a:t>
            </a:r>
          </a:p>
          <a:p>
            <a:pPr>
              <a:defRPr sz="1300">
                <a:solidFill>
                  <a:srgbClr val="475569"/>
                </a:solidFill>
              </a:defRPr>
            </a:pPr>
            <a:r>
              <a:t>   Deliver data-backed advisories on seed varieties, fertilizer intensities, and integrated pest management (IPM).</a:t>
            </a:r>
          </a:p>
          <a:p>
            <a:pPr>
              <a:defRPr sz="1300">
                <a:solidFill>
                  <a:srgbClr val="475569"/>
                </a:solidFill>
              </a:defRPr>
            </a:pPr>
          </a:p>
          <a:p>
            <a:pPr>
              <a:defRPr sz="1300">
                <a:solidFill>
                  <a:srgbClr val="475569"/>
                </a:solidFill>
              </a:defRPr>
            </a:pPr>
            <a:r>
              <a:t>3. Government Policymakers &amp; Planners:</a:t>
            </a:r>
          </a:p>
          <a:p>
            <a:pPr>
              <a:defRPr sz="1300">
                <a:solidFill>
                  <a:srgbClr val="475569"/>
                </a:solidFill>
              </a:defRPr>
            </a:pPr>
            <a:r>
              <a:t>   Formulate season-specific Minimum Support Prices (MSP), allocate canal water quotas, and target micro-irrigation subsidies.</a:t>
            </a:r>
          </a:p>
          <a:p>
            <a:pPr>
              <a:defRPr sz="1300">
                <a:solidFill>
                  <a:srgbClr val="475569"/>
                </a:solidFill>
              </a:defRPr>
            </a:pPr>
          </a:p>
          <a:p>
            <a:pPr>
              <a:defRPr sz="1300">
                <a:solidFill>
                  <a:srgbClr val="475569"/>
                </a:solidFill>
              </a:defRPr>
            </a:pPr>
            <a:r>
              <a:t>4. Agri-Fintech &amp; Crop Insurance Providers:</a:t>
            </a:r>
          </a:p>
          <a:p>
            <a:pPr>
              <a:defRPr sz="1300">
                <a:solidFill>
                  <a:srgbClr val="475569"/>
                </a:solidFill>
              </a:defRPr>
            </a:pPr>
            <a:r>
              <a:t>   Design dynamic actuarial risk premiums aligned with Kharif pest vulnerabilities and seasonal farm cash-flow cycles.</a:t>
            </a:r>
          </a:p>
          <a:p>
            <a:pPr>
              <a:defRPr sz="1300">
                <a:solidFill>
                  <a:srgbClr val="475569"/>
                </a:solidFill>
              </a:defRPr>
            </a:pPr>
          </a:p>
          <a:p>
            <a:pPr>
              <a:defRPr sz="1300">
                <a:solidFill>
                  <a:srgbClr val="475569"/>
                </a:solidFill>
              </a:defRPr>
            </a:pPr>
            <a:r>
              <a:t>5. Agrochemical &amp; Farm Input Suppliers:</a:t>
            </a:r>
          </a:p>
          <a:p>
            <a:pPr>
              <a:defRPr sz="1300">
                <a:solidFill>
                  <a:srgbClr val="475569"/>
                </a:solidFill>
              </a:defRPr>
            </a:pPr>
            <a:r>
              <a:t>   Optimize seasonal supply chain inventories for NPK fertilizers, micronutrients, and crop protection chemicals.</a:t>
            </a:r>
          </a:p>
          <a:p>
            <a:pPr>
              <a:defRPr sz="1300">
                <a:solidFill>
                  <a:srgbClr val="475569"/>
                </a:solidFill>
              </a:defRPr>
            </a:pPr>
          </a:p>
          <a:p>
            <a:pPr>
              <a:defRPr sz="1300">
                <a:solidFill>
                  <a:srgbClr val="475569"/>
                </a:solidFill>
              </a:defRPr>
            </a:pPr>
            <a:r>
              <a:t>6. Agricultural Researchers &amp; Data Scientists:</a:t>
            </a:r>
          </a:p>
          <a:p>
            <a:pPr>
              <a:defRPr sz="1300">
                <a:solidFill>
                  <a:srgbClr val="475569"/>
                </a:solidFill>
              </a:defRPr>
            </a:pPr>
            <a:r>
              <a:t>   Serve as an empirical benchmark for climate resilience research, yield forecasting models, and resource sustainability.</a:t>
            </a:r>
          </a:p>
        </p:txBody>
      </p:sp>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pPr>
              <a:defRPr b="1">
                <a:solidFill>
                  <a:srgbClr val="0F172A"/>
                </a:solidFill>
              </a:defRPr>
            </a:pPr>
            <a:r>
              <a:rPr lang="en-US" dirty="0"/>
              <a:t>Technology Used</a:t>
            </a:r>
          </a:p>
        </p:txBody>
      </p:sp>
      <p:sp>
        <p:nvSpPr>
          <p:cNvPr id="17" name="TextBox 16"/>
          <p:cNvSpPr txBox="1"/>
          <p:nvPr/>
        </p:nvSpPr>
        <p:spPr>
          <a:xfrm>
            <a:off x="2286000" y="1645920"/>
            <a:ext cx="8961120" cy="4389120"/>
          </a:xfrm>
          <a:prstGeom prst="rect">
            <a:avLst/>
          </a:prstGeom>
          <a:noFill/>
        </p:spPr>
        <p:txBody>
          <a:bodyPr wrap="square">
            <a:spAutoFit/>
          </a:bodyPr>
          <a:lstStyle/>
          <a:p>
            <a:pPr>
              <a:defRPr sz="1300">
                <a:solidFill>
                  <a:srgbClr val="475569"/>
                </a:solidFill>
              </a:defRPr>
            </a:pPr>
            <a:r>
              <a:t>â€¢ Python 3.12: Core programming language for end-to-end data pipeline, modeling, and automation.</a:t>
            </a:r>
          </a:p>
          <a:p>
            <a:pPr>
              <a:defRPr sz="1300">
                <a:solidFill>
                  <a:srgbClr val="475569"/>
                </a:solidFill>
              </a:defRPr>
            </a:pPr>
          </a:p>
          <a:p>
            <a:pPr>
              <a:defRPr sz="1300">
                <a:solidFill>
                  <a:srgbClr val="475569"/>
                </a:solidFill>
              </a:defRPr>
            </a:pPr>
            <a:r>
              <a:t>â€¢ Jupyter Notebook: Interactive computational environment for reproducible analysis and narrative storytelling.</a:t>
            </a:r>
          </a:p>
          <a:p>
            <a:pPr>
              <a:defRPr sz="1300">
                <a:solidFill>
                  <a:srgbClr val="475569"/>
                </a:solidFill>
              </a:defRPr>
            </a:pPr>
          </a:p>
          <a:p>
            <a:pPr>
              <a:defRPr sz="1300">
                <a:solidFill>
                  <a:srgbClr val="475569"/>
                </a:solidFill>
              </a:defRPr>
            </a:pPr>
            <a:r>
              <a:t>â€¢ Pandas &amp; NumPy: High-performance data manipulation, group-wise imputation, and numerical transformations.</a:t>
            </a:r>
          </a:p>
          <a:p>
            <a:pPr>
              <a:defRPr sz="1300">
                <a:solidFill>
                  <a:srgbClr val="475569"/>
                </a:solidFill>
              </a:defRPr>
            </a:pPr>
          </a:p>
          <a:p>
            <a:pPr>
              <a:defRPr sz="1300">
                <a:solidFill>
                  <a:srgbClr val="475569"/>
                </a:solidFill>
              </a:defRPr>
            </a:pPr>
            <a:r>
              <a:t>â€¢ Matplotlib &amp; Seaborn: Publication-grade 300 DPI visualizations, seasonal multi-panel plots, and annotated heatmaps.</a:t>
            </a:r>
          </a:p>
          <a:p>
            <a:pPr>
              <a:defRPr sz="1300">
                <a:solidFill>
                  <a:srgbClr val="475569"/>
                </a:solidFill>
              </a:defRPr>
            </a:pPr>
          </a:p>
          <a:p>
            <a:pPr>
              <a:defRPr sz="1300">
                <a:solidFill>
                  <a:srgbClr val="475569"/>
                </a:solidFill>
              </a:defRPr>
            </a:pPr>
            <a:r>
              <a:t>â€¢ SciPy &amp; Statsmodels: Rigorous inferential statisticsâ€”One-Way ANOVA, Kruskal-Wallis, Tukey HSD, and Chi-Square tests.</a:t>
            </a:r>
          </a:p>
          <a:p>
            <a:pPr>
              <a:defRPr sz="1300">
                <a:solidFill>
                  <a:srgbClr val="475569"/>
                </a:solidFill>
              </a:defRPr>
            </a:pPr>
          </a:p>
          <a:p>
            <a:pPr>
              <a:defRPr sz="1300">
                <a:solidFill>
                  <a:srgbClr val="475569"/>
                </a:solidFill>
              </a:defRPr>
            </a:pPr>
            <a:r>
              <a:t>â€¢ Plotly: Dynamic interactive exploratory visualization with multi-dimensional filtering.</a:t>
            </a:r>
          </a:p>
          <a:p>
            <a:pPr>
              <a:defRPr sz="1300">
                <a:solidFill>
                  <a:srgbClr val="475569"/>
                </a:solidFill>
              </a:defRPr>
            </a:pPr>
          </a:p>
          <a:p>
            <a:pPr>
              <a:defRPr sz="1300">
                <a:solidFill>
                  <a:srgbClr val="475569"/>
                </a:solidFill>
              </a:defRPr>
            </a:pPr>
            <a:r>
              <a:t>â€¢ Git &amp; GitHub: Professional version control, collaborative code management, and open-source project dissemination.</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pPr>
              <a:defRPr b="1" sz="2200">
                <a:solidFill>
                  <a:srgbClr val="0F172A"/>
                </a:solidFill>
              </a:defRPr>
            </a:pPr>
            <a:r>
              <a:t>RESULTS: Seasonal Yield &amp; Farm Profitability Dynamics</a:t>
            </a:r>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4" name="Picture 23" descr="fig04_seasonal_profitability_ci.png"/>
          <p:cNvPicPr>
            <a:picLocks noChangeAspect="1"/>
          </p:cNvPicPr>
          <p:nvPr/>
        </p:nvPicPr>
        <p:blipFill>
          <a:blip r:embed="rId3"/>
          <a:stretch>
            <a:fillRect/>
          </a:stretch>
        </p:blipFill>
        <p:spPr>
          <a:xfrm>
            <a:off x="731520" y="1554480"/>
            <a:ext cx="6583680" cy="2057400"/>
          </a:xfrm>
          <a:prstGeom prst="rect">
            <a:avLst/>
          </a:prstGeom>
        </p:spPr>
      </p:pic>
      <p:sp>
        <p:nvSpPr>
          <p:cNvPr id="25" name="TextBox 24"/>
          <p:cNvSpPr txBox="1"/>
          <p:nvPr/>
        </p:nvSpPr>
        <p:spPr>
          <a:xfrm>
            <a:off x="7498079" y="1645920"/>
            <a:ext cx="4114800" cy="4114800"/>
          </a:xfrm>
          <a:prstGeom prst="rect">
            <a:avLst/>
          </a:prstGeom>
          <a:noFill/>
        </p:spPr>
        <p:txBody>
          <a:bodyPr wrap="square">
            <a:spAutoFit/>
          </a:bodyPr>
          <a:lstStyle/>
          <a:p>
            <a:pPr>
              <a:defRPr sz="1250">
                <a:solidFill>
                  <a:srgbClr val="475569"/>
                </a:solidFill>
              </a:defRPr>
            </a:pPr>
            <a:r>
              <a:t>Key Takeaways &amp; Findings:</a:t>
            </a:r>
          </a:p>
          <a:p>
            <a:pPr>
              <a:defRPr sz="1250">
                <a:solidFill>
                  <a:srgbClr val="475569"/>
                </a:solidFill>
              </a:defRPr>
            </a:pPr>
          </a:p>
          <a:p>
            <a:pPr>
              <a:defRPr sz="1250">
                <a:solidFill>
                  <a:srgbClr val="475569"/>
                </a:solidFill>
              </a:defRPr>
            </a:pPr>
            <a:r>
              <a:t>â€¢ Zaid Outperformance: Achieves the highest average net profit (INR 232,042) and profit margin (11.5%), with 58.6% profitable farms.</a:t>
            </a:r>
          </a:p>
          <a:p>
            <a:pPr>
              <a:defRPr sz="1250">
                <a:solidFill>
                  <a:srgbClr val="475569"/>
                </a:solidFill>
              </a:defRPr>
            </a:pPr>
          </a:p>
          <a:p>
            <a:pPr>
              <a:defRPr sz="1250">
                <a:solidFill>
                  <a:srgbClr val="475569"/>
                </a:solidFill>
              </a:defRPr>
            </a:pPr>
            <a:r>
              <a:t>â€¢ Kharif Margin Squeeze: Generates only INR 28,323 mean profit, with 53.5% of farms operating at a financial loss due to elevated input costs.</a:t>
            </a:r>
          </a:p>
          <a:p>
            <a:pPr>
              <a:defRPr sz="1250">
                <a:solidFill>
                  <a:srgbClr val="475569"/>
                </a:solidFill>
              </a:defRPr>
            </a:pPr>
          </a:p>
          <a:p>
            <a:pPr>
              <a:defRPr sz="1250">
                <a:solidFill>
                  <a:srgbClr val="475569"/>
                </a:solidFill>
              </a:defRPr>
            </a:pPr>
            <a:r>
              <a:t>â€¢ Controlled Rabi Stability: Delivers steady profits (INR 119,548; 52.2% profitable farms), proving managed irrigation mitigates climate risks.</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pPr>
              <a:defRPr b="1" sz="2200">
                <a:solidFill>
                  <a:srgbClr val="0F172A"/>
                </a:solidFill>
              </a:defRPr>
            </a:pPr>
            <a:r>
              <a:t>RESULTS: Crop Ã— Season Profitability Matrix</a:t>
            </a:r>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p:txBody>
      </p:sp>
      <p:pic>
        <p:nvPicPr>
          <p:cNvPr id="31" name="Picture 30" descr="fig13_crop_season_profitability_heatmap.png"/>
          <p:cNvPicPr>
            <a:picLocks noChangeAspect="1"/>
          </p:cNvPicPr>
          <p:nvPr/>
        </p:nvPicPr>
        <p:blipFill>
          <a:blip r:embed="rId3"/>
          <a:stretch>
            <a:fillRect/>
          </a:stretch>
        </p:blipFill>
        <p:spPr>
          <a:xfrm>
            <a:off x="731520" y="1554480"/>
            <a:ext cx="6217920" cy="4352544"/>
          </a:xfrm>
          <a:prstGeom prst="rect">
            <a:avLst/>
          </a:prstGeom>
        </p:spPr>
      </p:pic>
      <p:sp>
        <p:nvSpPr>
          <p:cNvPr id="32" name="TextBox 31"/>
          <p:cNvSpPr txBox="1"/>
          <p:nvPr/>
        </p:nvSpPr>
        <p:spPr>
          <a:xfrm>
            <a:off x="7132320" y="1645920"/>
            <a:ext cx="4389120" cy="4114800"/>
          </a:xfrm>
          <a:prstGeom prst="rect">
            <a:avLst/>
          </a:prstGeom>
          <a:noFill/>
        </p:spPr>
        <p:txBody>
          <a:bodyPr wrap="square">
            <a:spAutoFit/>
          </a:bodyPr>
          <a:lstStyle/>
          <a:p>
            <a:pPr>
              <a:defRPr sz="1250">
                <a:solidFill>
                  <a:srgbClr val="475569"/>
                </a:solidFill>
              </a:defRPr>
            </a:pPr>
            <a:r>
              <a:t>Key Takeaways &amp; Findings:</a:t>
            </a:r>
          </a:p>
          <a:p>
            <a:pPr>
              <a:defRPr sz="1250">
                <a:solidFill>
                  <a:srgbClr val="475569"/>
                </a:solidFill>
              </a:defRPr>
            </a:pPr>
          </a:p>
          <a:p>
            <a:pPr>
              <a:defRPr sz="1250">
                <a:solidFill>
                  <a:srgbClr val="475569"/>
                </a:solidFill>
              </a:defRPr>
            </a:pPr>
            <a:r>
              <a:t>â€¢ Commercial Crop Superiority: Chilli, Sugarcane, and Groundnut yield positive profits across all seasons, peaking in Rabi and Zaid.</a:t>
            </a:r>
          </a:p>
          <a:p>
            <a:pPr>
              <a:defRPr sz="1250">
                <a:solidFill>
                  <a:srgbClr val="475569"/>
                </a:solidFill>
              </a:defRPr>
            </a:pPr>
          </a:p>
          <a:p>
            <a:pPr>
              <a:defRPr sz="1250">
                <a:solidFill>
                  <a:srgbClr val="475569"/>
                </a:solidFill>
              </a:defRPr>
            </a:pPr>
            <a:r>
              <a:t>â€¢ Grain Crop Vulnerability: Rice and Maize experience negative net margins during Kharif, where high seed and pesticide costs outpace farm-gate prices.</a:t>
            </a:r>
          </a:p>
          <a:p>
            <a:pPr>
              <a:defRPr sz="1250">
                <a:solidFill>
                  <a:srgbClr val="475569"/>
                </a:solidFill>
              </a:defRPr>
            </a:pPr>
          </a:p>
          <a:p>
            <a:pPr>
              <a:defRPr sz="1250">
                <a:solidFill>
                  <a:srgbClr val="475569"/>
                </a:solidFill>
              </a:defRPr>
            </a:pPr>
            <a:r>
              <a:t>â€¢ Seasonal Specialization: Wheat achieves optimal profitability in Rabi (+INR 134k) versus Kharif (-INR 46k), highlighting the critical role of temperature timing.</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pPr>
              <a:defRPr b="1" sz="2200">
                <a:solidFill>
                  <a:srgbClr val="0F172A"/>
                </a:solidFill>
              </a:defRPr>
            </a:pPr>
            <a:r>
              <a:t>RESULTS: Environmental Drivers &amp; Pest/Disease Vulnerability</a:t>
            </a:r>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p:txBody>
      </p:sp>
      <p:pic>
        <p:nvPicPr>
          <p:cNvPr id="31" name="Picture 30" descr="fig07_disease_pest_risk_by_season.png"/>
          <p:cNvPicPr>
            <a:picLocks noChangeAspect="1"/>
          </p:cNvPicPr>
          <p:nvPr/>
        </p:nvPicPr>
        <p:blipFill>
          <a:blip r:embed="rId3"/>
          <a:stretch>
            <a:fillRect/>
          </a:stretch>
        </p:blipFill>
        <p:spPr>
          <a:xfrm>
            <a:off x="731520" y="1554480"/>
            <a:ext cx="6583680" cy="2351314"/>
          </a:xfrm>
          <a:prstGeom prst="rect">
            <a:avLst/>
          </a:prstGeom>
        </p:spPr>
      </p:pic>
      <p:sp>
        <p:nvSpPr>
          <p:cNvPr id="32" name="TextBox 31"/>
          <p:cNvSpPr txBox="1"/>
          <p:nvPr/>
        </p:nvSpPr>
        <p:spPr>
          <a:xfrm>
            <a:off x="7498079" y="1645920"/>
            <a:ext cx="4114800" cy="4114800"/>
          </a:xfrm>
          <a:prstGeom prst="rect">
            <a:avLst/>
          </a:prstGeom>
          <a:noFill/>
        </p:spPr>
        <p:txBody>
          <a:bodyPr wrap="square">
            <a:spAutoFit/>
          </a:bodyPr>
          <a:lstStyle/>
          <a:p>
            <a:pPr>
              <a:defRPr sz="1250">
                <a:solidFill>
                  <a:srgbClr val="475569"/>
                </a:solidFill>
              </a:defRPr>
            </a:pPr>
            <a:r>
              <a:t>Key Takeaways &amp; Findings:</a:t>
            </a:r>
          </a:p>
          <a:p>
            <a:pPr>
              <a:defRPr sz="1250">
                <a:solidFill>
                  <a:srgbClr val="475569"/>
                </a:solidFill>
              </a:defRPr>
            </a:pPr>
          </a:p>
          <a:p>
            <a:pPr>
              <a:defRPr sz="1250">
                <a:solidFill>
                  <a:srgbClr val="475569"/>
                </a:solidFill>
              </a:defRPr>
            </a:pPr>
            <a:r>
              <a:t>â€¢ Monsoon Pest Surge: Kharif disease and pest risk averages 52.88%, compared to 38.89% in Rabi and 36.63% in Zaid.</a:t>
            </a:r>
          </a:p>
          <a:p>
            <a:pPr>
              <a:defRPr sz="1250">
                <a:solidFill>
                  <a:srgbClr val="475569"/>
                </a:solidFill>
              </a:defRPr>
            </a:pPr>
          </a:p>
          <a:p>
            <a:pPr>
              <a:defRPr sz="1250">
                <a:solidFill>
                  <a:srgbClr val="475569"/>
                </a:solidFill>
              </a:defRPr>
            </a:pPr>
            <a:r>
              <a:t>â€¢ High Effect Size: One-Way ANOVA proves this disparity is extraordinary (F = 1049.47, p &lt; 10^-300, Î·Â² = 0.3443).</a:t>
            </a:r>
          </a:p>
          <a:p>
            <a:pPr>
              <a:defRPr sz="1250">
                <a:solidFill>
                  <a:srgbClr val="475569"/>
                </a:solidFill>
              </a:defRPr>
            </a:pPr>
          </a:p>
          <a:p>
            <a:pPr>
              <a:defRPr sz="1250">
                <a:solidFill>
                  <a:srgbClr val="475569"/>
                </a:solidFill>
              </a:defRPr>
            </a:pPr>
            <a:r>
              <a:t>â€¢ Moisture-Infestation Link: Strong linear correlation between atmospheric humidity (&gt;70%) and pest risk drives a 25% surge in pesticide expenditure.</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pPr>
              <a:defRPr b="1" sz="2200">
                <a:solidFill>
                  <a:srgbClr val="0F172A"/>
                </a:solidFill>
              </a:defRPr>
            </a:pPr>
            <a:r>
              <a:t>RESULTS: Irrigation Method Effectiveness Across Seasons</a:t>
            </a:r>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p:txBody>
      </p:sp>
      <p:pic>
        <p:nvPicPr>
          <p:cNvPr id="31" name="Picture 30" descr="fig06_water_efficiency_irrigation_heatmap.png"/>
          <p:cNvPicPr>
            <a:picLocks noChangeAspect="1"/>
          </p:cNvPicPr>
          <p:nvPr/>
        </p:nvPicPr>
        <p:blipFill>
          <a:blip r:embed="rId3"/>
          <a:stretch>
            <a:fillRect/>
          </a:stretch>
        </p:blipFill>
        <p:spPr>
          <a:xfrm>
            <a:off x="731520" y="1554480"/>
            <a:ext cx="6583680" cy="2414016"/>
          </a:xfrm>
          <a:prstGeom prst="rect">
            <a:avLst/>
          </a:prstGeom>
        </p:spPr>
      </p:pic>
      <p:sp>
        <p:nvSpPr>
          <p:cNvPr id="32" name="TextBox 31"/>
          <p:cNvSpPr txBox="1"/>
          <p:nvPr/>
        </p:nvSpPr>
        <p:spPr>
          <a:xfrm>
            <a:off x="7498079" y="1645920"/>
            <a:ext cx="4114800" cy="4114800"/>
          </a:xfrm>
          <a:prstGeom prst="rect">
            <a:avLst/>
          </a:prstGeom>
          <a:noFill/>
        </p:spPr>
        <p:txBody>
          <a:bodyPr wrap="square">
            <a:spAutoFit/>
          </a:bodyPr>
          <a:lstStyle/>
          <a:p>
            <a:pPr>
              <a:defRPr sz="1250">
                <a:solidFill>
                  <a:srgbClr val="475569"/>
                </a:solidFill>
              </a:defRPr>
            </a:pPr>
            <a:r>
              <a:t>Key Takeaways &amp; Findings:</a:t>
            </a:r>
          </a:p>
          <a:p>
            <a:pPr>
              <a:defRPr sz="1250">
                <a:solidFill>
                  <a:srgbClr val="475569"/>
                </a:solidFill>
              </a:defRPr>
            </a:pPr>
          </a:p>
          <a:p>
            <a:pPr>
              <a:defRPr sz="1250">
                <a:solidFill>
                  <a:srgbClr val="475569"/>
                </a:solidFill>
              </a:defRPr>
            </a:pPr>
            <a:r>
              <a:t>â€¢ Micro-Irrigation Superiority: Drip irrigation achieves 4.82 t/1000mÂ³ water efficiency, beating Flood systems (1.64 t/1000mÂ³) by nearly 3x.</a:t>
            </a:r>
          </a:p>
          <a:p>
            <a:pPr>
              <a:defRPr sz="1250">
                <a:solidFill>
                  <a:srgbClr val="475569"/>
                </a:solidFill>
              </a:defRPr>
            </a:pPr>
          </a:p>
          <a:p>
            <a:pPr>
              <a:defRPr sz="1250">
                <a:solidFill>
                  <a:srgbClr val="475569"/>
                </a:solidFill>
              </a:defRPr>
            </a:pPr>
            <a:r>
              <a:t>â€¢ Flood Inefficiency: Flood irrigation consumes &gt;9,000 mÂ³ of water on average, elevating pumping electricity and extraction costs.</a:t>
            </a:r>
          </a:p>
          <a:p>
            <a:pPr>
              <a:defRPr sz="1250">
                <a:solidFill>
                  <a:srgbClr val="475569"/>
                </a:solidFill>
              </a:defRPr>
            </a:pPr>
          </a:p>
          <a:p>
            <a:pPr>
              <a:defRPr sz="1250">
                <a:solidFill>
                  <a:srgbClr val="475569"/>
                </a:solidFill>
              </a:defRPr>
            </a:pPr>
            <a:r>
              <a:t>â€¢ Summer Water Optimization: Zaid micro-irrigation maximizes yield per unit water applied during peak evaporation conditions.</a:t>
            </a:r>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pPr>
              <a:defRPr b="1" sz="2200">
                <a:solidFill>
                  <a:srgbClr val="0F172A"/>
                </a:solidFill>
              </a:defRPr>
            </a:pPr>
            <a:r>
              <a:t>RESULTS: Statistical Hypothesis Testing Summary</a:t>
            </a:r>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p:txBody>
      </p:sp>
      <p:pic>
        <p:nvPicPr>
          <p:cNvPr id="31" name="Picture 30" descr="fig12_statistical_tests_summary_table.png"/>
          <p:cNvPicPr>
            <a:picLocks noChangeAspect="1"/>
          </p:cNvPicPr>
          <p:nvPr/>
        </p:nvPicPr>
        <p:blipFill>
          <a:blip r:embed="rId3"/>
          <a:stretch>
            <a:fillRect/>
          </a:stretch>
        </p:blipFill>
        <p:spPr>
          <a:xfrm>
            <a:off x="731520" y="1463040"/>
            <a:ext cx="10515600" cy="4853354"/>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pPr>
              <a:defRPr b="1">
                <a:solidFill>
                  <a:srgbClr val="0F172A"/>
                </a:solidFill>
              </a:defRPr>
            </a:pPr>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4" name="TextBox 23"/>
          <p:cNvSpPr txBox="1"/>
          <p:nvPr/>
        </p:nvSpPr>
        <p:spPr>
          <a:xfrm>
            <a:off x="731520" y="1645920"/>
            <a:ext cx="10515600" cy="4389120"/>
          </a:xfrm>
          <a:prstGeom prst="rect">
            <a:avLst/>
          </a:prstGeom>
          <a:noFill/>
        </p:spPr>
        <p:txBody>
          <a:bodyPr wrap="square">
            <a:spAutoFit/>
          </a:bodyPr>
          <a:lstStyle/>
          <a:p>
            <a:pPr>
              <a:defRPr sz="1350">
                <a:solidFill>
                  <a:srgbClr val="475569"/>
                </a:solidFill>
              </a:defRPr>
            </a:pPr>
            <a:r>
              <a:t>â€¢ Multi-Year Longitudinal Modeling:</a:t>
            </a:r>
          </a:p>
          <a:p>
            <a:pPr>
              <a:defRPr sz="1350">
                <a:solidFill>
                  <a:srgbClr val="475569"/>
                </a:solidFill>
              </a:defRPr>
            </a:pPr>
            <a:r>
              <a:t>  Expand the cross-sectional dataset across multi-decadal time-series to capture climate change impacts and El NiÃ±o cycles.</a:t>
            </a:r>
          </a:p>
          <a:p>
            <a:pPr>
              <a:defRPr sz="1350">
                <a:solidFill>
                  <a:srgbClr val="475569"/>
                </a:solidFill>
              </a:defRPr>
            </a:pPr>
          </a:p>
          <a:p>
            <a:pPr>
              <a:defRPr sz="1350">
                <a:solidFill>
                  <a:srgbClr val="475569"/>
                </a:solidFill>
              </a:defRPr>
            </a:pPr>
            <a:r>
              <a:t>â€¢ Predictive Yield &amp; Revenue Machine Learning:</a:t>
            </a:r>
          </a:p>
          <a:p>
            <a:pPr>
              <a:defRPr sz="1350">
                <a:solidFill>
                  <a:srgbClr val="475569"/>
                </a:solidFill>
              </a:defRPr>
            </a:pPr>
            <a:r>
              <a:t>  Deploy ensemble models (XGBoost, LightGBM, CatBoost) to forecast pre-sowing farm profits based on early-season meteorology.</a:t>
            </a:r>
          </a:p>
          <a:p>
            <a:pPr>
              <a:defRPr sz="1350">
                <a:solidFill>
                  <a:srgbClr val="475569"/>
                </a:solidFill>
              </a:defRPr>
            </a:pPr>
          </a:p>
          <a:p>
            <a:pPr>
              <a:defRPr sz="1350">
                <a:solidFill>
                  <a:srgbClr val="475569"/>
                </a:solidFill>
              </a:defRPr>
            </a:pPr>
            <a:r>
              <a:t>â€¢ Remote Sensing &amp; Satellite NDVI Integration:</a:t>
            </a:r>
          </a:p>
          <a:p>
            <a:pPr>
              <a:defRPr sz="1350">
                <a:solidFill>
                  <a:srgbClr val="475569"/>
                </a:solidFill>
              </a:defRPr>
            </a:pPr>
            <a:r>
              <a:t>  Incorporate Sentinel-2 and Landsat multispectral imagery to validate soil moisture, crop canopy vigor, and field stress remotely.</a:t>
            </a:r>
          </a:p>
          <a:p>
            <a:pPr>
              <a:defRPr sz="1350">
                <a:solidFill>
                  <a:srgbClr val="475569"/>
                </a:solidFill>
              </a:defRPr>
            </a:pPr>
          </a:p>
          <a:p>
            <a:pPr>
              <a:defRPr sz="1350">
                <a:solidFill>
                  <a:srgbClr val="475569"/>
                </a:solidFill>
              </a:defRPr>
            </a:pPr>
            <a:r>
              <a:t>â€¢ Hyper-Local IoT Agro-Advisory System:</a:t>
            </a:r>
          </a:p>
          <a:p>
            <a:pPr>
              <a:defRPr sz="1350">
                <a:solidFill>
                  <a:srgbClr val="475569"/>
                </a:solidFill>
              </a:defRPr>
            </a:pPr>
            <a:r>
              <a:t>  Deploy low-cost farm IoT sensor nodes for micro-climatic pest alerts, dynamic irrigation scheduling, and mobile advisories.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pPr>
              <a:defRPr b="1">
                <a:solidFill>
                  <a:srgbClr val="0F172A"/>
                </a:solidFill>
              </a:defRPr>
            </a:pPr>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a:spAutoFit/>
          </a:bodyPr>
          <a:lstStyle/>
          <a:p>
            <a:pPr>
              <a:defRPr sz="1300">
                <a:solidFill>
                  <a:srgbClr val="475569"/>
                </a:solidFill>
              </a:defRPr>
            </a:pPr>
            <a:r>
              <a:t>https://github.com/raghavparoli07-art/seasonal-agriculture-performance-analysis</a:t>
            </a:r>
          </a:p>
          <a:p>
            <a:pPr>
              <a:defRPr sz="1300">
                <a:solidFill>
                  <a:srgbClr val="475569"/>
                </a:solidFill>
              </a:defRPr>
            </a:pPr>
          </a:p>
          <a:p>
            <a:pPr>
              <a:defRPr sz="1300">
                <a:solidFill>
                  <a:srgbClr val="475569"/>
                </a:solidFill>
              </a:defRPr>
            </a:pPr>
            <a:r>
              <a:t>Repository Contents &amp; Deliverables:</a:t>
            </a:r>
          </a:p>
          <a:p>
            <a:pPr>
              <a:defRPr sz="1300">
                <a:solidFill>
                  <a:srgbClr val="475569"/>
                </a:solidFill>
              </a:defRPr>
            </a:pPr>
            <a:r>
              <a:t>â€¢ Full Executed Jupyter Notebook (47 cells, complete outputs, visualizations, markdown)</a:t>
            </a:r>
          </a:p>
          <a:p>
            <a:pPr>
              <a:defRPr sz="1300">
                <a:solidFill>
                  <a:srgbClr val="475569"/>
                </a:solidFill>
              </a:defRPr>
            </a:pPr>
            <a:r>
              <a:t>â€¢ Raw and Cleaned Processed Datasets (data/raw &amp; data/processed)</a:t>
            </a:r>
          </a:p>
          <a:p>
            <a:pPr>
              <a:defRPr sz="1300">
                <a:solidFill>
                  <a:srgbClr val="475569"/>
                </a:solidFill>
              </a:defRPr>
            </a:pPr>
            <a:r>
              <a:t>â€¢ 15 High-Resolution 300 DPI Publication-Grade Figures (outputs/figures)</a:t>
            </a:r>
          </a:p>
          <a:p>
            <a:pPr>
              <a:defRPr sz="1300">
                <a:solidFill>
                  <a:srgbClr val="475569"/>
                </a:solidFill>
              </a:defRPr>
            </a:pPr>
            <a:r>
              <a:t>â€¢ Complete 14-Slide Official PPTX Presentation Deck (presentation/)</a:t>
            </a:r>
          </a:p>
          <a:p>
            <a:pPr>
              <a:defRPr sz="1300">
                <a:solidFill>
                  <a:srgbClr val="475569"/>
                </a:solidFill>
              </a:defRPr>
            </a:pPr>
            <a:r>
              <a:t>â€¢ Comprehensive Technical README and Environment Requirements</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pPr>
              <a:defRPr b="1">
                <a:solidFill>
                  <a:srgbClr val="0F172A"/>
                </a:solidFill>
              </a:defRPr>
            </a:pPr>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24" name="Picture 23" descr="vois_data_viz_certificate.png"/>
          <p:cNvPicPr>
            <a:picLocks noChangeAspect="1"/>
          </p:cNvPicPr>
          <p:nvPr/>
        </p:nvPicPr>
        <p:blipFill>
          <a:blip r:embed="rId3"/>
          <a:stretch>
            <a:fillRect/>
          </a:stretch>
        </p:blipFill>
        <p:spPr>
          <a:xfrm>
            <a:off x="1645920" y="1463040"/>
            <a:ext cx="8046720" cy="5462911"/>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defRPr b="1" sz="3600">
                <a:solidFill>
                  <a:srgbClr val="0F172A"/>
                </a:solidFill>
              </a:defRPr>
            </a:pPr>
            <a:r>
              <a:t>Thank You</a:t>
            </a:r>
          </a:p>
          <a:p>
            <a:pPr>
              <a:defRPr b="1" sz="3600">
                <a:solidFill>
                  <a:srgbClr val="0F172A"/>
                </a:solidFill>
              </a:defRPr>
            </a:pPr>
            <a:r>
              <a:t>Questions &amp; Discussion</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
        <p:nvSpPr>
          <p:cNvPr id="46" name="TextBox 45"/>
          <p:cNvSpPr txBox="1"/>
          <p:nvPr/>
        </p:nvSpPr>
        <p:spPr>
          <a:xfrm>
            <a:off x="1371600" y="3200400"/>
            <a:ext cx="8686800" cy="1828800"/>
          </a:xfrm>
          <a:prstGeom prst="rect">
            <a:avLst/>
          </a:prstGeom>
          <a:noFill/>
        </p:spPr>
        <p:txBody>
          <a:bodyPr wrap="square">
            <a:spAutoFit/>
          </a:bodyPr>
          <a:lstStyle/>
          <a:p>
            <a:pPr>
              <a:defRPr sz="1600">
                <a:solidFill>
                  <a:srgbClr val="475569"/>
                </a:solidFill>
              </a:defRPr>
            </a:pPr>
            <a:r>
              <a:t>Seasonal Agriculture Performance Analysis</a:t>
            </a:r>
          </a:p>
          <a:p>
            <a:pPr>
              <a:defRPr sz="1600">
                <a:solidFill>
                  <a:srgbClr val="475569"/>
                </a:solidFill>
              </a:defRPr>
            </a:pPr>
            <a:r>
              <a:t>VOIS AICTE Batch 2026-2027 Major Project</a:t>
            </a:r>
          </a:p>
          <a:p>
            <a:pPr>
              <a:defRPr sz="1600">
                <a:solidFill>
                  <a:srgbClr val="475569"/>
                </a:solidFill>
              </a:defRPr>
            </a:pPr>
            <a:r>
              <a:t>Author: Raghav Paroli  •  GitHub: github.com/raghavparoli07-art/seasonal-agriculture-performance-analysis</a:t>
            </a:r>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Facet</Template>
  <TotalTime>1356</TotalTime>
  <Words>202</Words>
  <Application>Microsoft Office PowerPoint</Application>
  <PresentationFormat>Widescreen</PresentationFormat>
  <Paragraphs>26</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vt:lpstr>
      <vt:lpstr>PROBLEM  STATEMENT</vt:lpstr>
      <vt:lpstr>Project Description [write detail description about your project ]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Raghav Paroli</cp:lastModifiedBy>
  <cp:revision>98</cp:revision>
  <dcterms:created xsi:type="dcterms:W3CDTF">2021-07-11T13:13:15Z</dcterms:created>
  <dcterms:modified xsi:type="dcterms:W3CDTF">2026-09-10T12:25:07Z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